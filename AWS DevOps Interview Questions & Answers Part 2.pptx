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7"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5" d="100"/>
          <a:sy n="65" d="100"/>
        </p:scale>
        <p:origin x="-1296" y="-6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hyperlink" Target="https://docs.aws.amazon.com/vpc/latest/privatelink/aws-services-privatelink-support.html"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2819400"/>
          </a:xfrm>
        </p:spPr>
        <p:txBody>
          <a:bodyPr>
            <a:normAutofit/>
          </a:bodyPr>
          <a:lstStyle/>
          <a:p>
            <a:r>
              <a:rPr lang="en-US" dirty="0" smtClean="0">
                <a:solidFill>
                  <a:schemeClr val="accent6">
                    <a:lumMod val="75000"/>
                  </a:schemeClr>
                </a:solidFill>
              </a:rPr>
              <a:t>1. How do you design a Highly Available (HA) and Fault Tolerant (Resilient) architecture for an application in AWS?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143000"/>
          </a:xfrm>
        </p:spPr>
        <p:txBody>
          <a:bodyPr>
            <a:normAutofit/>
          </a:bodyPr>
          <a:lstStyle/>
          <a:p>
            <a:r>
              <a:rPr lang="en-US" sz="2400" dirty="0" smtClean="0">
                <a:solidFill>
                  <a:schemeClr val="accent6">
                    <a:lumMod val="75000"/>
                  </a:schemeClr>
                </a:solidFill>
              </a:rPr>
              <a:t>1. How do you design a Highly Available (HA) and Fault Tolerant (Resilient) architecture for an application in AWS?</a:t>
            </a:r>
            <a:endParaRPr lang="en-US" sz="2400" dirty="0">
              <a:solidFill>
                <a:schemeClr val="accent6">
                  <a:lumMod val="75000"/>
                </a:schemeClr>
              </a:solidFill>
            </a:endParaRPr>
          </a:p>
        </p:txBody>
      </p:sp>
      <p:sp>
        <p:nvSpPr>
          <p:cNvPr id="3" name="Subtitle 2"/>
          <p:cNvSpPr>
            <a:spLocks noGrp="1"/>
          </p:cNvSpPr>
          <p:nvPr>
            <p:ph type="subTitle" idx="1"/>
          </p:nvPr>
        </p:nvSpPr>
        <p:spPr>
          <a:xfrm>
            <a:off x="457200" y="1371600"/>
            <a:ext cx="8458200" cy="4267200"/>
          </a:xfrm>
        </p:spPr>
        <p:txBody>
          <a:bodyPr>
            <a:normAutofit/>
          </a:bodyPr>
          <a:lstStyle/>
          <a:p>
            <a:pPr algn="l"/>
            <a:r>
              <a:rPr lang="en-US" sz="2400" dirty="0" smtClean="0">
                <a:solidFill>
                  <a:srgbClr val="00B050"/>
                </a:solidFill>
              </a:rPr>
              <a:t>Before deciding on a HA and Fault Tolerant architecture, we must understand the tolerance levels of RTO (Recovery Time Objective - Downtime) and RPO (Recovery Point Objective- Data Loss). Less RTO/RPO targets means more cost and complexity.</a:t>
            </a:r>
          </a:p>
          <a:p>
            <a:pPr algn="l">
              <a:buFont typeface="Arial" pitchFamily="34" charset="0"/>
              <a:buChar char="•"/>
            </a:pPr>
            <a:r>
              <a:rPr lang="en-US" sz="2400" dirty="0" smtClean="0">
                <a:solidFill>
                  <a:srgbClr val="00B050"/>
                </a:solidFill>
              </a:rPr>
              <a:t> Do not have a single-point of failure, means deploy the application (or workload) in Multiple Availability Zones (AZs) – Disaster Recovery</a:t>
            </a:r>
          </a:p>
          <a:p>
            <a:pPr algn="l">
              <a:buFont typeface="Arial" pitchFamily="34" charset="0"/>
              <a:buChar char="•"/>
            </a:pPr>
            <a:r>
              <a:rPr lang="en-US" sz="2400" dirty="0" smtClean="0">
                <a:solidFill>
                  <a:srgbClr val="00B050"/>
                </a:solidFill>
              </a:rPr>
              <a:t> ELBs for Fault Tolerance</a:t>
            </a:r>
          </a:p>
          <a:p>
            <a:pPr algn="l">
              <a:buFont typeface="Arial" pitchFamily="34" charset="0"/>
              <a:buChar char="•"/>
            </a:pPr>
            <a:r>
              <a:rPr lang="en-US" sz="2400" dirty="0" smtClean="0">
                <a:solidFill>
                  <a:srgbClr val="00B050"/>
                </a:solidFill>
              </a:rPr>
              <a:t> AWS EC2 ASGs for High Availability</a:t>
            </a:r>
          </a:p>
          <a:p>
            <a:pPr algn="l">
              <a:buFont typeface="Arial" pitchFamily="34" charset="0"/>
              <a:buChar char="•"/>
            </a:pPr>
            <a:r>
              <a:rPr lang="en-US" sz="2400" dirty="0" smtClean="0">
                <a:solidFill>
                  <a:srgbClr val="00B050"/>
                </a:solidFill>
              </a:rPr>
              <a:t> Use </a:t>
            </a:r>
            <a:r>
              <a:rPr lang="en-US" sz="2400" dirty="0" err="1" smtClean="0">
                <a:solidFill>
                  <a:srgbClr val="00B050"/>
                </a:solidFill>
              </a:rPr>
              <a:t>IaC</a:t>
            </a:r>
            <a:r>
              <a:rPr lang="en-US" sz="2400" dirty="0" smtClean="0">
                <a:solidFill>
                  <a:srgbClr val="00B050"/>
                </a:solidFill>
              </a:rPr>
              <a:t> Tool to script your infrastructure</a:t>
            </a:r>
          </a:p>
          <a:p>
            <a:pPr algn="l"/>
            <a:endParaRPr lang="en-US" sz="2400" dirty="0" smtClean="0">
              <a:solidFill>
                <a:srgbClr val="00B05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 2: A workload that does not demonstrate static stability. The workload requires three Amazon EC2 instances, but only has two after Availability Zone 2 experiences downtime."/>
          <p:cNvPicPr>
            <a:picLocks noChangeAspect="1" noChangeArrowheads="1"/>
          </p:cNvPicPr>
          <p:nvPr/>
        </p:nvPicPr>
        <p:blipFill>
          <a:blip r:embed="rId2"/>
          <a:srcRect/>
          <a:stretch>
            <a:fillRect/>
          </a:stretch>
        </p:blipFill>
        <p:spPr bwMode="auto">
          <a:xfrm>
            <a:off x="0" y="152400"/>
            <a:ext cx="9102071" cy="65151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Figure 3. A workload that demonstrates static stability. This workload requires three Amazon EC2 instances and has four, even when Availability Zone 2 experiences downtime."/>
          <p:cNvPicPr>
            <a:picLocks noChangeAspect="1" noChangeArrowheads="1"/>
          </p:cNvPicPr>
          <p:nvPr/>
        </p:nvPicPr>
        <p:blipFill>
          <a:blip r:embed="rId2"/>
          <a:srcRect/>
          <a:stretch>
            <a:fillRect/>
          </a:stretch>
        </p:blipFill>
        <p:spPr bwMode="auto">
          <a:xfrm>
            <a:off x="228600" y="304800"/>
            <a:ext cx="8649724" cy="6087516"/>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2. What is the default routing algorithm of an Application Load Balancer? Which other algorithm does it support?</a:t>
            </a:r>
            <a:endParaRPr lang="en-US"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524000"/>
          </a:xfrm>
        </p:spPr>
        <p:txBody>
          <a:bodyPr>
            <a:normAutofit/>
          </a:bodyPr>
          <a:lstStyle/>
          <a:p>
            <a:r>
              <a:rPr lang="en-US" sz="2400" dirty="0" smtClean="0">
                <a:solidFill>
                  <a:schemeClr val="accent6">
                    <a:lumMod val="75000"/>
                  </a:schemeClr>
                </a:solidFill>
              </a:rPr>
              <a:t>2. What is the default routing algorithm of an Application Load Balancer? Which other algorithm does it support?</a:t>
            </a:r>
            <a:endParaRPr lang="en-US" sz="2400" dirty="0"/>
          </a:p>
        </p:txBody>
      </p:sp>
      <p:sp>
        <p:nvSpPr>
          <p:cNvPr id="3" name="TextBox 2"/>
          <p:cNvSpPr txBox="1"/>
          <p:nvPr/>
        </p:nvSpPr>
        <p:spPr>
          <a:xfrm>
            <a:off x="990600" y="1981200"/>
            <a:ext cx="7924800" cy="954107"/>
          </a:xfrm>
          <a:prstGeom prst="rect">
            <a:avLst/>
          </a:prstGeom>
          <a:noFill/>
        </p:spPr>
        <p:txBody>
          <a:bodyPr wrap="square" rtlCol="0">
            <a:spAutoFit/>
          </a:bodyPr>
          <a:lstStyle/>
          <a:p>
            <a:r>
              <a:rPr lang="en-US" sz="2800" dirty="0" smtClean="0">
                <a:solidFill>
                  <a:srgbClr val="00B050"/>
                </a:solidFill>
              </a:rPr>
              <a:t>Default is </a:t>
            </a:r>
            <a:r>
              <a:rPr lang="en-US" sz="2800" b="1" dirty="0" smtClean="0">
                <a:solidFill>
                  <a:srgbClr val="00B050"/>
                </a:solidFill>
              </a:rPr>
              <a:t>Round Robin</a:t>
            </a:r>
            <a:r>
              <a:rPr lang="en-US" sz="2800" dirty="0" smtClean="0">
                <a:solidFill>
                  <a:srgbClr val="00B050"/>
                </a:solidFill>
              </a:rPr>
              <a:t>, the other option is </a:t>
            </a:r>
            <a:r>
              <a:rPr lang="en-US" sz="2800" b="1" dirty="0" smtClean="0">
                <a:solidFill>
                  <a:srgbClr val="00B050"/>
                </a:solidFill>
              </a:rPr>
              <a:t>Least Outstanding Requests</a:t>
            </a:r>
            <a:r>
              <a:rPr lang="en-US" sz="2800" dirty="0" smtClean="0">
                <a:solidFill>
                  <a:srgbClr val="00B050"/>
                </a:solidFill>
              </a:rPr>
              <a:t>.</a:t>
            </a:r>
            <a:endParaRPr lang="en-US" sz="2800" dirty="0">
              <a:solidFill>
                <a:srgbClr val="00B05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0"/>
            <a:ext cx="7772400" cy="1524000"/>
          </a:xfrm>
        </p:spPr>
        <p:txBody>
          <a:bodyPr>
            <a:noAutofit/>
          </a:bodyPr>
          <a:lstStyle/>
          <a:p>
            <a:r>
              <a:rPr lang="en-US" sz="3200" dirty="0" smtClean="0">
                <a:solidFill>
                  <a:schemeClr val="accent6">
                    <a:lumMod val="75000"/>
                  </a:schemeClr>
                </a:solidFill>
              </a:rPr>
              <a:t>3. Which Load Balancer is most suited when you have to handle millions of request per second?</a:t>
            </a: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524000"/>
          </a:xfrm>
        </p:spPr>
        <p:txBody>
          <a:bodyPr>
            <a:noAutofit/>
          </a:bodyPr>
          <a:lstStyle/>
          <a:p>
            <a:r>
              <a:rPr lang="en-US" sz="3200" dirty="0" smtClean="0">
                <a:solidFill>
                  <a:schemeClr val="accent6">
                    <a:lumMod val="75000"/>
                  </a:schemeClr>
                </a:solidFill>
              </a:rPr>
              <a:t>3. Which Load Balancer is most suited when you have to handle millions of request per second?</a:t>
            </a:r>
            <a:endParaRPr lang="en-US" sz="3200" dirty="0"/>
          </a:p>
        </p:txBody>
      </p:sp>
      <p:sp>
        <p:nvSpPr>
          <p:cNvPr id="3" name="TextBox 2"/>
          <p:cNvSpPr txBox="1"/>
          <p:nvPr/>
        </p:nvSpPr>
        <p:spPr>
          <a:xfrm>
            <a:off x="990600" y="2286000"/>
            <a:ext cx="7924800" cy="1384995"/>
          </a:xfrm>
          <a:prstGeom prst="rect">
            <a:avLst/>
          </a:prstGeom>
          <a:noFill/>
        </p:spPr>
        <p:txBody>
          <a:bodyPr wrap="square" rtlCol="0">
            <a:spAutoFit/>
          </a:bodyPr>
          <a:lstStyle/>
          <a:p>
            <a:r>
              <a:rPr lang="en-US" sz="2800" b="1" dirty="0" smtClean="0">
                <a:solidFill>
                  <a:srgbClr val="00B050"/>
                </a:solidFill>
              </a:rPr>
              <a:t>Network Load Balancers </a:t>
            </a:r>
            <a:r>
              <a:rPr lang="en-US" sz="2800" dirty="0" smtClean="0">
                <a:solidFill>
                  <a:srgbClr val="00B050"/>
                </a:solidFill>
              </a:rPr>
              <a:t>is better suited to handle millions of requests per second with ultra-low latencies.</a:t>
            </a:r>
            <a:endParaRPr lang="en-US" sz="2800" dirty="0">
              <a:solidFill>
                <a:srgbClr val="00B05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4. How do you support extra read requests in RDS?</a:t>
            </a: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4. How do you support extra read requests in RDS?</a:t>
            </a:r>
            <a:endParaRPr lang="en-US" sz="3200" dirty="0"/>
          </a:p>
        </p:txBody>
      </p:sp>
      <p:sp>
        <p:nvSpPr>
          <p:cNvPr id="3" name="TextBox 2"/>
          <p:cNvSpPr txBox="1"/>
          <p:nvPr/>
        </p:nvSpPr>
        <p:spPr>
          <a:xfrm>
            <a:off x="685800" y="2209800"/>
            <a:ext cx="8077200" cy="2677656"/>
          </a:xfrm>
          <a:prstGeom prst="rect">
            <a:avLst/>
          </a:prstGeom>
          <a:noFill/>
        </p:spPr>
        <p:txBody>
          <a:bodyPr wrap="square" rtlCol="0">
            <a:spAutoFit/>
          </a:bodyPr>
          <a:lstStyle/>
          <a:p>
            <a:r>
              <a:rPr lang="en-US" sz="2800" b="1" dirty="0" smtClean="0">
                <a:solidFill>
                  <a:srgbClr val="00B050"/>
                </a:solidFill>
              </a:rPr>
              <a:t>Read Replicas</a:t>
            </a:r>
            <a:r>
              <a:rPr lang="en-US" sz="2800" dirty="0" smtClean="0">
                <a:solidFill>
                  <a:srgbClr val="00B050"/>
                </a:solidFill>
              </a:rPr>
              <a:t>: You can create copies of your primary RDS DB instance (writer) to offload read requests from the primary instance. The data is copied asynchronously. In most cases (but there are some exceptions) you can have 5 read replicas of your RDS instance.</a:t>
            </a:r>
            <a:endParaRPr lang="en-US" sz="2800" dirty="0">
              <a:solidFill>
                <a:srgbClr val="00B05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5. How do you achieve disaster recovery in RDS?</a:t>
            </a:r>
            <a:endParaRPr lang="en-US" sz="3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5. How do you achieve disaster recovery in RDS?</a:t>
            </a:r>
            <a:endParaRPr lang="en-US" sz="3200" dirty="0"/>
          </a:p>
        </p:txBody>
      </p:sp>
      <p:sp>
        <p:nvSpPr>
          <p:cNvPr id="3" name="TextBox 2"/>
          <p:cNvSpPr txBox="1"/>
          <p:nvPr/>
        </p:nvSpPr>
        <p:spPr>
          <a:xfrm>
            <a:off x="1066800" y="1905000"/>
            <a:ext cx="7772400" cy="2308324"/>
          </a:xfrm>
          <a:prstGeom prst="rect">
            <a:avLst/>
          </a:prstGeom>
          <a:noFill/>
        </p:spPr>
        <p:txBody>
          <a:bodyPr wrap="square" rtlCol="0">
            <a:spAutoFit/>
          </a:bodyPr>
          <a:lstStyle/>
          <a:p>
            <a:r>
              <a:rPr lang="en-US" sz="2400" dirty="0" smtClean="0">
                <a:solidFill>
                  <a:srgbClr val="00B050"/>
                </a:solidFill>
              </a:rPr>
              <a:t>Using Multi-AZ feature. You can enable Multi-AZ for an RDS instance that is going to create a copy of the primary instance in another Availability Zone. In case of a failure, the traffic is automatically routed to the secondary instance. The data is copied synchronously from primary to the secondary instance.</a:t>
            </a:r>
            <a:endParaRPr lang="en-US" sz="2400" dirty="0">
              <a:solidFill>
                <a:srgbClr val="00B05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6. What is cross-zone load balancing?</a:t>
            </a:r>
            <a:endParaRPr lang="en-US" sz="3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228600"/>
            <a:ext cx="7772400" cy="685800"/>
          </a:xfrm>
        </p:spPr>
        <p:txBody>
          <a:bodyPr>
            <a:normAutofit/>
          </a:bodyPr>
          <a:lstStyle/>
          <a:p>
            <a:r>
              <a:rPr lang="en-US" sz="3200" dirty="0" smtClean="0">
                <a:solidFill>
                  <a:schemeClr val="accent6">
                    <a:lumMod val="75000"/>
                  </a:schemeClr>
                </a:solidFill>
              </a:rPr>
              <a:t>6. What is cross-zone load balancing?</a:t>
            </a:r>
            <a:endParaRPr lang="en-US" sz="3200" dirty="0"/>
          </a:p>
        </p:txBody>
      </p:sp>
      <p:sp>
        <p:nvSpPr>
          <p:cNvPr id="3" name="TextBox 2"/>
          <p:cNvSpPr txBox="1"/>
          <p:nvPr/>
        </p:nvSpPr>
        <p:spPr>
          <a:xfrm>
            <a:off x="609600" y="762000"/>
            <a:ext cx="8382000" cy="2554545"/>
          </a:xfrm>
          <a:prstGeom prst="rect">
            <a:avLst/>
          </a:prstGeom>
          <a:noFill/>
        </p:spPr>
        <p:txBody>
          <a:bodyPr wrap="square" rtlCol="0">
            <a:spAutoFit/>
          </a:bodyPr>
          <a:lstStyle/>
          <a:p>
            <a:r>
              <a:rPr lang="en-US" sz="1600" dirty="0" smtClean="0">
                <a:solidFill>
                  <a:srgbClr val="00B050"/>
                </a:solidFill>
              </a:rPr>
              <a:t>The following diagrams demonstrate the effect of cross-zone load balancing with round robin as the default routing algorithm. There are two enabled Availability Zones, with two targets in Availability Zone A and eight targets in Availability Zone B. Clients send requests, and Amazon Route 53 responds to each request with the IP address of one of the load balancer nodes. Based on the round robin routing algorithm, traffic is distributed such that each load balancer node receives 50% of the traffic from the clients. Each load balancer node distributes its share of the traffic across the registered targets in its scope.</a:t>
            </a:r>
          </a:p>
          <a:p>
            <a:r>
              <a:rPr lang="en-US" sz="1600" dirty="0" smtClean="0">
                <a:solidFill>
                  <a:srgbClr val="00B050"/>
                </a:solidFill>
              </a:rPr>
              <a:t>If cross-zone load balancing is enabled, each of the 10 targets receives 10% of the traffic. This is because each load balancer node can route its 50% of the client traffic to all 10 targets.</a:t>
            </a:r>
          </a:p>
          <a:p>
            <a:endParaRPr lang="en-US" sz="1600" dirty="0">
              <a:solidFill>
                <a:srgbClr val="00B050"/>
              </a:solidFill>
            </a:endParaRPr>
          </a:p>
        </p:txBody>
      </p:sp>
      <p:pic>
        <p:nvPicPr>
          <p:cNvPr id="4" name="Picture 3" descr="cross_zone_load_balancing_enabled.png"/>
          <p:cNvPicPr>
            <a:picLocks noChangeAspect="1"/>
          </p:cNvPicPr>
          <p:nvPr/>
        </p:nvPicPr>
        <p:blipFill>
          <a:blip r:embed="rId2"/>
          <a:stretch>
            <a:fillRect/>
          </a:stretch>
        </p:blipFill>
        <p:spPr>
          <a:xfrm>
            <a:off x="533400" y="3352800"/>
            <a:ext cx="3583947" cy="3282237"/>
          </a:xfrm>
          <a:prstGeom prst="rect">
            <a:avLst/>
          </a:prstGeom>
        </p:spPr>
      </p:pic>
      <p:pic>
        <p:nvPicPr>
          <p:cNvPr id="5" name="Picture 4" descr="cross_zone_load_balancing_disabled.png"/>
          <p:cNvPicPr>
            <a:picLocks noChangeAspect="1"/>
          </p:cNvPicPr>
          <p:nvPr/>
        </p:nvPicPr>
        <p:blipFill>
          <a:blip r:embed="rId3"/>
          <a:stretch>
            <a:fillRect/>
          </a:stretch>
        </p:blipFill>
        <p:spPr>
          <a:xfrm>
            <a:off x="5181600" y="3352800"/>
            <a:ext cx="3592098" cy="328970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7. How an EC2 instance in an </a:t>
            </a:r>
            <a:r>
              <a:rPr lang="en-US" sz="3200" dirty="0" err="1" smtClean="0">
                <a:solidFill>
                  <a:schemeClr val="accent6">
                    <a:lumMod val="75000"/>
                  </a:schemeClr>
                </a:solidFill>
              </a:rPr>
              <a:t>AutoScaling</a:t>
            </a:r>
            <a:r>
              <a:rPr lang="en-US" sz="3200" dirty="0" smtClean="0">
                <a:solidFill>
                  <a:schemeClr val="accent6">
                    <a:lumMod val="75000"/>
                  </a:schemeClr>
                </a:solidFill>
              </a:rPr>
              <a:t> Group is replaced based on the health checks?</a:t>
            </a:r>
            <a:endParaRPr lang="en-US" sz="3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7. How an EC2 instance in an </a:t>
            </a:r>
            <a:r>
              <a:rPr lang="en-US" sz="3200" dirty="0" err="1" smtClean="0">
                <a:solidFill>
                  <a:schemeClr val="accent6">
                    <a:lumMod val="75000"/>
                  </a:schemeClr>
                </a:solidFill>
              </a:rPr>
              <a:t>AutoScaling</a:t>
            </a:r>
            <a:r>
              <a:rPr lang="en-US" sz="3200" dirty="0" smtClean="0">
                <a:solidFill>
                  <a:schemeClr val="accent6">
                    <a:lumMod val="75000"/>
                  </a:schemeClr>
                </a:solidFill>
              </a:rPr>
              <a:t> Group is replaced based on the health checks?</a:t>
            </a:r>
            <a:endParaRPr lang="en-US" sz="3200" dirty="0"/>
          </a:p>
        </p:txBody>
      </p:sp>
      <p:sp>
        <p:nvSpPr>
          <p:cNvPr id="3" name="TextBox 2"/>
          <p:cNvSpPr txBox="1"/>
          <p:nvPr/>
        </p:nvSpPr>
        <p:spPr>
          <a:xfrm>
            <a:off x="762000" y="2209800"/>
            <a:ext cx="8077200" cy="4401205"/>
          </a:xfrm>
          <a:prstGeom prst="rect">
            <a:avLst/>
          </a:prstGeom>
          <a:noFill/>
        </p:spPr>
        <p:txBody>
          <a:bodyPr wrap="square" rtlCol="0">
            <a:spAutoFit/>
          </a:bodyPr>
          <a:lstStyle/>
          <a:p>
            <a:r>
              <a:rPr lang="en-US" sz="2000" dirty="0" smtClean="0">
                <a:solidFill>
                  <a:srgbClr val="00B050"/>
                </a:solidFill>
              </a:rPr>
              <a:t>An ASG continuously monitors the health of each instance. All instances in an Auto Scaling group start with a </a:t>
            </a:r>
            <a:r>
              <a:rPr lang="en-US" sz="2000" b="1" dirty="0" smtClean="0">
                <a:solidFill>
                  <a:srgbClr val="00B050"/>
                </a:solidFill>
              </a:rPr>
              <a:t>Healthy</a:t>
            </a:r>
            <a:r>
              <a:rPr lang="en-US" sz="2000" dirty="0" smtClean="0">
                <a:solidFill>
                  <a:srgbClr val="00B050"/>
                </a:solidFill>
              </a:rPr>
              <a:t> status. Instances are assumed to be healthy unless Amazon EC2 Auto Scaling receives notification that they are </a:t>
            </a:r>
            <a:r>
              <a:rPr lang="en-US" sz="2000" b="1" dirty="0" smtClean="0">
                <a:solidFill>
                  <a:srgbClr val="00B050"/>
                </a:solidFill>
              </a:rPr>
              <a:t>unhealthy</a:t>
            </a:r>
            <a:r>
              <a:rPr lang="en-US" sz="2000" dirty="0" smtClean="0">
                <a:solidFill>
                  <a:srgbClr val="00B050"/>
                </a:solidFill>
              </a:rPr>
              <a:t>. It can receive notifications from various sources when an instance becomes unhealthy and must be replaced. These sources include:  </a:t>
            </a:r>
            <a:r>
              <a:rPr lang="en-US" sz="2000" b="1" dirty="0" smtClean="0">
                <a:solidFill>
                  <a:srgbClr val="00B050"/>
                </a:solidFill>
              </a:rPr>
              <a:t>Amazon EC2</a:t>
            </a:r>
            <a:r>
              <a:rPr lang="en-US" sz="2000" dirty="0" smtClean="0">
                <a:solidFill>
                  <a:srgbClr val="00B050"/>
                </a:solidFill>
              </a:rPr>
              <a:t>, </a:t>
            </a:r>
            <a:r>
              <a:rPr lang="en-US" sz="2000" b="1" dirty="0" smtClean="0">
                <a:solidFill>
                  <a:srgbClr val="00B050"/>
                </a:solidFill>
              </a:rPr>
              <a:t>Elastic Load Balancing, VPC Lattice,  Amazon EBS, Custom health checks that you define. </a:t>
            </a:r>
            <a:r>
              <a:rPr lang="en-US" sz="2000" dirty="0" smtClean="0">
                <a:solidFill>
                  <a:srgbClr val="00B050"/>
                </a:solidFill>
              </a:rPr>
              <a:t>When an </a:t>
            </a:r>
            <a:r>
              <a:rPr lang="en-US" sz="2000" b="1" dirty="0" err="1" smtClean="0">
                <a:solidFill>
                  <a:srgbClr val="00B050"/>
                </a:solidFill>
              </a:rPr>
              <a:t>InService</a:t>
            </a:r>
            <a:r>
              <a:rPr lang="en-US" sz="2000" dirty="0" smtClean="0">
                <a:solidFill>
                  <a:srgbClr val="00B050"/>
                </a:solidFill>
              </a:rPr>
              <a:t> instance becomes unhealthy, it is replaced with a new one to maintain the desired capacity of the group.</a:t>
            </a:r>
          </a:p>
          <a:p>
            <a:endParaRPr lang="en-US" sz="2000" dirty="0" smtClean="0">
              <a:solidFill>
                <a:srgbClr val="00B050"/>
              </a:solidFill>
            </a:endParaRPr>
          </a:p>
          <a:p>
            <a:endParaRPr lang="en-US" sz="2000" dirty="0" smtClean="0">
              <a:solidFill>
                <a:srgbClr val="00B050"/>
              </a:solidFill>
            </a:endParaRPr>
          </a:p>
          <a:p>
            <a:endParaRPr lang="en-US" sz="2000" dirty="0" smtClean="0">
              <a:solidFill>
                <a:srgbClr val="00B050"/>
              </a:solidFill>
            </a:endParaRPr>
          </a:p>
          <a:p>
            <a:endParaRPr lang="en-US" sz="2000" dirty="0" smtClean="0">
              <a:solidFill>
                <a:srgbClr val="00B050"/>
              </a:solidFill>
            </a:endParaRPr>
          </a:p>
          <a:p>
            <a:endParaRPr lang="en-US" sz="2000" dirty="0">
              <a:solidFill>
                <a:srgbClr val="00B05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8. What are Lifecycle Hooks in </a:t>
            </a:r>
            <a:r>
              <a:rPr lang="en-US" sz="3200" dirty="0" err="1" smtClean="0">
                <a:solidFill>
                  <a:schemeClr val="accent6">
                    <a:lumMod val="75000"/>
                  </a:schemeClr>
                </a:solidFill>
              </a:rPr>
              <a:t>AutoScaling</a:t>
            </a:r>
            <a:r>
              <a:rPr lang="en-US" sz="3200" dirty="0" smtClean="0">
                <a:solidFill>
                  <a:schemeClr val="accent6">
                    <a:lumMod val="75000"/>
                  </a:schemeClr>
                </a:solidFill>
              </a:rPr>
              <a:t> Groups?</a:t>
            </a:r>
            <a:endParaRPr lang="en-US" sz="3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990600"/>
          </a:xfrm>
        </p:spPr>
        <p:txBody>
          <a:bodyPr>
            <a:normAutofit fontScale="90000"/>
          </a:bodyPr>
          <a:lstStyle/>
          <a:p>
            <a:r>
              <a:rPr lang="en-US" sz="3200" dirty="0" smtClean="0">
                <a:solidFill>
                  <a:schemeClr val="accent6">
                    <a:lumMod val="75000"/>
                  </a:schemeClr>
                </a:solidFill>
              </a:rPr>
              <a:t>8. What are Lifecycle Hooks in </a:t>
            </a:r>
            <a:r>
              <a:rPr lang="en-US" sz="3200" dirty="0" err="1" smtClean="0">
                <a:solidFill>
                  <a:schemeClr val="accent6">
                    <a:lumMod val="75000"/>
                  </a:schemeClr>
                </a:solidFill>
              </a:rPr>
              <a:t>AutoScaling</a:t>
            </a:r>
            <a:r>
              <a:rPr lang="en-US" sz="3200" dirty="0" smtClean="0">
                <a:solidFill>
                  <a:schemeClr val="accent6">
                    <a:lumMod val="75000"/>
                  </a:schemeClr>
                </a:solidFill>
              </a:rPr>
              <a:t> Groups?</a:t>
            </a:r>
            <a:endParaRPr lang="en-US" sz="3200" dirty="0"/>
          </a:p>
        </p:txBody>
      </p:sp>
      <p:sp>
        <p:nvSpPr>
          <p:cNvPr id="3" name="TextBox 2"/>
          <p:cNvSpPr txBox="1"/>
          <p:nvPr/>
        </p:nvSpPr>
        <p:spPr>
          <a:xfrm>
            <a:off x="1143000" y="1447800"/>
            <a:ext cx="7543800" cy="4801314"/>
          </a:xfrm>
          <a:prstGeom prst="rect">
            <a:avLst/>
          </a:prstGeom>
          <a:noFill/>
        </p:spPr>
        <p:txBody>
          <a:bodyPr wrap="square" rtlCol="0">
            <a:spAutoFit/>
          </a:bodyPr>
          <a:lstStyle/>
          <a:p>
            <a:r>
              <a:rPr lang="en-US" dirty="0" smtClean="0">
                <a:solidFill>
                  <a:srgbClr val="00B050"/>
                </a:solidFill>
              </a:rPr>
              <a:t>A lifecycle hook lets you perform custom actions on instances. It provides you a specified amount of time (1 hour by default) to wait for the action to complete before the instance transitions to the next state. Examples:</a:t>
            </a:r>
          </a:p>
          <a:p>
            <a:endParaRPr lang="en-US" dirty="0" smtClean="0">
              <a:solidFill>
                <a:srgbClr val="00B050"/>
              </a:solidFill>
            </a:endParaRPr>
          </a:p>
          <a:p>
            <a:r>
              <a:rPr lang="en-US" dirty="0" smtClean="0">
                <a:solidFill>
                  <a:srgbClr val="00B050"/>
                </a:solidFill>
              </a:rPr>
              <a:t>1. When a</a:t>
            </a:r>
            <a:r>
              <a:rPr lang="en-US" b="1" dirty="0" smtClean="0">
                <a:solidFill>
                  <a:srgbClr val="00B050"/>
                </a:solidFill>
              </a:rPr>
              <a:t> scale-out </a:t>
            </a:r>
            <a:r>
              <a:rPr lang="en-US" dirty="0" smtClean="0">
                <a:solidFill>
                  <a:srgbClr val="00B050"/>
                </a:solidFill>
              </a:rPr>
              <a:t>event occurs, your newly launched instance completes its startup sequence and transitions to a wait state. While the instance is in a wait state, it runs a script to download and install the needed software packages for your application, making sure that your instance is fully ready before it starts receiving traffic. When the script is finished installing software, it sends the </a:t>
            </a:r>
            <a:r>
              <a:rPr lang="en-US" b="1" dirty="0" smtClean="0">
                <a:solidFill>
                  <a:srgbClr val="00B050"/>
                </a:solidFill>
              </a:rPr>
              <a:t>complete-lifecycle-action</a:t>
            </a:r>
            <a:r>
              <a:rPr lang="en-US" dirty="0" smtClean="0">
                <a:solidFill>
                  <a:srgbClr val="00B050"/>
                </a:solidFill>
              </a:rPr>
              <a:t> command to continue.</a:t>
            </a:r>
          </a:p>
          <a:p>
            <a:pPr marL="342900" indent="-342900">
              <a:buAutoNum type="arabicPeriod"/>
            </a:pPr>
            <a:endParaRPr lang="en-US" dirty="0" smtClean="0">
              <a:solidFill>
                <a:srgbClr val="00B050"/>
              </a:solidFill>
            </a:endParaRPr>
          </a:p>
          <a:p>
            <a:r>
              <a:rPr lang="en-US" dirty="0" smtClean="0">
                <a:solidFill>
                  <a:srgbClr val="00B050"/>
                </a:solidFill>
              </a:rPr>
              <a:t>2. When a </a:t>
            </a:r>
            <a:r>
              <a:rPr lang="en-US" b="1" dirty="0" smtClean="0">
                <a:solidFill>
                  <a:srgbClr val="00B050"/>
                </a:solidFill>
              </a:rPr>
              <a:t>scale-in</a:t>
            </a:r>
            <a:r>
              <a:rPr lang="en-US" dirty="0" smtClean="0">
                <a:solidFill>
                  <a:srgbClr val="00B050"/>
                </a:solidFill>
              </a:rPr>
              <a:t> event occurs, a lifecycle hook pauses the instance before it is terminated and sends you a notification using Amazon </a:t>
            </a:r>
            <a:r>
              <a:rPr lang="en-US" dirty="0" err="1" smtClean="0">
                <a:solidFill>
                  <a:srgbClr val="00B050"/>
                </a:solidFill>
              </a:rPr>
              <a:t>EventBridge</a:t>
            </a:r>
            <a:r>
              <a:rPr lang="en-US" dirty="0" smtClean="0">
                <a:solidFill>
                  <a:srgbClr val="00B050"/>
                </a:solidFill>
              </a:rPr>
              <a:t>. While the instance is in the wait state, you can invoke an AWS Lambda function or connect to the instance to download logs or other data before the instance is fully terminated.</a:t>
            </a:r>
          </a:p>
          <a:p>
            <a:endParaRPr lang="en-US" dirty="0">
              <a:solidFill>
                <a:srgbClr val="00B05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9. How do you peer 2 VPCs?</a:t>
            </a:r>
            <a:endParaRPr lang="en-US" sz="3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609600"/>
          </a:xfrm>
        </p:spPr>
        <p:txBody>
          <a:bodyPr>
            <a:normAutofit/>
          </a:bodyPr>
          <a:lstStyle/>
          <a:p>
            <a:r>
              <a:rPr lang="en-US" sz="3200" dirty="0" smtClean="0">
                <a:solidFill>
                  <a:schemeClr val="accent6">
                    <a:lumMod val="75000"/>
                  </a:schemeClr>
                </a:solidFill>
              </a:rPr>
              <a:t>9. How do you peer 2 VPCs?</a:t>
            </a:r>
            <a:endParaRPr lang="en-US" sz="3200" dirty="0"/>
          </a:p>
        </p:txBody>
      </p:sp>
      <p:sp>
        <p:nvSpPr>
          <p:cNvPr id="4" name="TextBox 3"/>
          <p:cNvSpPr txBox="1"/>
          <p:nvPr/>
        </p:nvSpPr>
        <p:spPr>
          <a:xfrm>
            <a:off x="381000" y="1066800"/>
            <a:ext cx="8382000" cy="1754326"/>
          </a:xfrm>
          <a:prstGeom prst="rect">
            <a:avLst/>
          </a:prstGeom>
          <a:noFill/>
        </p:spPr>
        <p:txBody>
          <a:bodyPr wrap="square" rtlCol="0">
            <a:spAutoFit/>
          </a:bodyPr>
          <a:lstStyle/>
          <a:p>
            <a:r>
              <a:rPr lang="en-US" dirty="0" smtClean="0">
                <a:solidFill>
                  <a:srgbClr val="00B050"/>
                </a:solidFill>
              </a:rPr>
              <a:t>A VPC peering connection is a networking connection between two VPCs that enables you to route traffic between them using private IPv4 addresses or IPv6 addresses. Instances in either VPC can communicate with each other as if they are within the same network. You can create a VPC peering connection between your own VPCs, or with a VPC in another AWS account. The VPCs can be in different Regions (also known as an inter-Region VPC peering connection).</a:t>
            </a:r>
            <a:endParaRPr lang="en-US" dirty="0">
              <a:solidFill>
                <a:srgbClr val="00B050"/>
              </a:solidFill>
            </a:endParaRPr>
          </a:p>
        </p:txBody>
      </p:sp>
      <p:pic>
        <p:nvPicPr>
          <p:cNvPr id="5" name="Picture 4" descr="peering-intro-diagram.png"/>
          <p:cNvPicPr>
            <a:picLocks noChangeAspect="1"/>
          </p:cNvPicPr>
          <p:nvPr/>
        </p:nvPicPr>
        <p:blipFill>
          <a:blip r:embed="rId2"/>
          <a:stretch>
            <a:fillRect/>
          </a:stretch>
        </p:blipFill>
        <p:spPr>
          <a:xfrm>
            <a:off x="2133600" y="2895600"/>
            <a:ext cx="4959626" cy="1600200"/>
          </a:xfrm>
          <a:prstGeom prst="rect">
            <a:avLst/>
          </a:prstGeom>
        </p:spPr>
      </p:pic>
      <p:sp>
        <p:nvSpPr>
          <p:cNvPr id="6" name="TextBox 5"/>
          <p:cNvSpPr txBox="1"/>
          <p:nvPr/>
        </p:nvSpPr>
        <p:spPr>
          <a:xfrm>
            <a:off x="838200" y="4648200"/>
            <a:ext cx="7924800" cy="1754326"/>
          </a:xfrm>
          <a:prstGeom prst="rect">
            <a:avLst/>
          </a:prstGeom>
          <a:noFill/>
        </p:spPr>
        <p:txBody>
          <a:bodyPr wrap="square" rtlCol="0">
            <a:spAutoFit/>
          </a:bodyPr>
          <a:lstStyle/>
          <a:p>
            <a:pPr marL="342900" indent="-342900">
              <a:buAutoNum type="arabicPeriod"/>
            </a:pPr>
            <a:r>
              <a:rPr lang="en-US" dirty="0" smtClean="0">
                <a:solidFill>
                  <a:srgbClr val="00B050"/>
                </a:solidFill>
              </a:rPr>
              <a:t>Create (send the request from VPC A and accept from VPC B)</a:t>
            </a:r>
          </a:p>
          <a:p>
            <a:pPr marL="342900" indent="-342900">
              <a:buAutoNum type="arabicPeriod"/>
            </a:pPr>
            <a:r>
              <a:rPr lang="en-US" dirty="0" smtClean="0">
                <a:solidFill>
                  <a:srgbClr val="00B050"/>
                </a:solidFill>
              </a:rPr>
              <a:t>Update Route Tables in both VPCs</a:t>
            </a:r>
          </a:p>
          <a:p>
            <a:pPr marL="342900" indent="-342900">
              <a:buAutoNum type="arabicPeriod"/>
            </a:pPr>
            <a:r>
              <a:rPr lang="en-US" dirty="0" smtClean="0">
                <a:solidFill>
                  <a:srgbClr val="00B050"/>
                </a:solidFill>
              </a:rPr>
              <a:t>Reference peer SGs</a:t>
            </a:r>
          </a:p>
          <a:p>
            <a:pPr marL="342900" indent="-342900">
              <a:buAutoNum type="arabicPeriod"/>
            </a:pPr>
            <a:r>
              <a:rPr lang="en-US" dirty="0" smtClean="0">
                <a:solidFill>
                  <a:srgbClr val="00B050"/>
                </a:solidFill>
              </a:rPr>
              <a:t>To enable VPCs to resolve public DNS hostnames to private IP addresses,  DNS hostnames and DNS resolution in both VPCs should be enabled</a:t>
            </a:r>
          </a:p>
          <a:p>
            <a:pPr marL="342900" indent="-342900">
              <a:buAutoNum type="arabicPeriod"/>
            </a:pPr>
            <a:r>
              <a:rPr lang="en-US" dirty="0" smtClean="0">
                <a:solidFill>
                  <a:srgbClr val="00B050"/>
                </a:solidFill>
              </a:rPr>
              <a:t>Enable DNS resolution in the peering connection as well</a:t>
            </a:r>
            <a:endParaRPr lang="en-US" dirty="0">
              <a:solidFill>
                <a:srgbClr val="00B05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10. What are VPC Endpoints?</a:t>
            </a:r>
            <a:endParaRPr 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828800"/>
          </a:xfrm>
        </p:spPr>
        <p:txBody>
          <a:bodyPr>
            <a:normAutofit/>
          </a:bodyPr>
          <a:lstStyle/>
          <a:p>
            <a:r>
              <a:rPr lang="en-US" sz="3200" dirty="0" smtClean="0">
                <a:solidFill>
                  <a:schemeClr val="accent6">
                    <a:lumMod val="75000"/>
                  </a:schemeClr>
                </a:solidFill>
              </a:rPr>
              <a:t>10. What are VPC Endpoints?</a:t>
            </a:r>
            <a:endParaRPr lang="en-US" sz="3200" dirty="0"/>
          </a:p>
        </p:txBody>
      </p:sp>
      <p:sp>
        <p:nvSpPr>
          <p:cNvPr id="3" name="TextBox 2"/>
          <p:cNvSpPr txBox="1"/>
          <p:nvPr/>
        </p:nvSpPr>
        <p:spPr>
          <a:xfrm>
            <a:off x="533400" y="1981200"/>
            <a:ext cx="8305800" cy="4247317"/>
          </a:xfrm>
          <a:prstGeom prst="rect">
            <a:avLst/>
          </a:prstGeom>
          <a:noFill/>
        </p:spPr>
        <p:txBody>
          <a:bodyPr wrap="square" rtlCol="0">
            <a:spAutoFit/>
          </a:bodyPr>
          <a:lstStyle/>
          <a:p>
            <a:r>
              <a:rPr lang="en-US" dirty="0" smtClean="0">
                <a:solidFill>
                  <a:srgbClr val="00B050"/>
                </a:solidFill>
              </a:rPr>
              <a:t>A </a:t>
            </a:r>
            <a:r>
              <a:rPr lang="en-US" b="1" dirty="0" smtClean="0">
                <a:solidFill>
                  <a:srgbClr val="00B050"/>
                </a:solidFill>
              </a:rPr>
              <a:t>VPC endpoint </a:t>
            </a:r>
            <a:r>
              <a:rPr lang="en-US" dirty="0" smtClean="0">
                <a:solidFill>
                  <a:srgbClr val="00B050"/>
                </a:solidFill>
              </a:rPr>
              <a:t>enables customers to privately connect to supported AWS services and VPC endpoint services powered by </a:t>
            </a:r>
            <a:r>
              <a:rPr lang="en-US" b="1" dirty="0" smtClean="0">
                <a:solidFill>
                  <a:srgbClr val="00B050"/>
                </a:solidFill>
              </a:rPr>
              <a:t>AWS </a:t>
            </a:r>
            <a:r>
              <a:rPr lang="en-US" b="1" dirty="0" err="1" smtClean="0">
                <a:solidFill>
                  <a:srgbClr val="00B050"/>
                </a:solidFill>
              </a:rPr>
              <a:t>PrivateLink</a:t>
            </a:r>
            <a:r>
              <a:rPr lang="en-US" dirty="0" smtClean="0">
                <a:solidFill>
                  <a:srgbClr val="00B050"/>
                </a:solidFill>
              </a:rPr>
              <a:t>. Amazon VPC instances do not require public IP addresses to communicate with resources of the service. Traffic between an Amazon VPC and a service does not leave the Amazon network</a:t>
            </a:r>
            <a:r>
              <a:rPr lang="en-US" dirty="0" smtClean="0">
                <a:solidFill>
                  <a:srgbClr val="00B050"/>
                </a:solidFill>
              </a:rPr>
              <a:t>.</a:t>
            </a:r>
          </a:p>
          <a:p>
            <a:r>
              <a:rPr lang="en-US" b="1" dirty="0" smtClean="0">
                <a:solidFill>
                  <a:srgbClr val="00B050"/>
                </a:solidFill>
              </a:rPr>
              <a:t>Features</a:t>
            </a:r>
            <a:r>
              <a:rPr lang="en-US" dirty="0" smtClean="0">
                <a:solidFill>
                  <a:srgbClr val="00B050"/>
                </a:solidFill>
              </a:rPr>
              <a:t>: virtual devices, scaled horizontally, and highly available</a:t>
            </a:r>
          </a:p>
          <a:p>
            <a:r>
              <a:rPr lang="en-US" b="1" dirty="0" smtClean="0">
                <a:solidFill>
                  <a:srgbClr val="00B050"/>
                </a:solidFill>
              </a:rPr>
              <a:t>Types</a:t>
            </a:r>
            <a:r>
              <a:rPr lang="en-US" dirty="0" smtClean="0">
                <a:solidFill>
                  <a:srgbClr val="00B050"/>
                </a:solidFill>
              </a:rPr>
              <a:t>: Interface and Gateway</a:t>
            </a:r>
          </a:p>
          <a:p>
            <a:r>
              <a:rPr lang="en-US" dirty="0" smtClean="0">
                <a:solidFill>
                  <a:srgbClr val="00B050"/>
                </a:solidFill>
              </a:rPr>
              <a:t>An </a:t>
            </a:r>
            <a:r>
              <a:rPr lang="en-US" b="1" dirty="0" smtClean="0">
                <a:solidFill>
                  <a:srgbClr val="00B050"/>
                </a:solidFill>
              </a:rPr>
              <a:t>interface endpoint </a:t>
            </a:r>
            <a:r>
              <a:rPr lang="en-US" dirty="0" smtClean="0">
                <a:solidFill>
                  <a:srgbClr val="00B050"/>
                </a:solidFill>
              </a:rPr>
              <a:t>is a collection of one or more elastic network interfaces with a private IP address that serves as an entry point for traffic destined to a supported service</a:t>
            </a:r>
            <a:r>
              <a:rPr lang="en-US" dirty="0" smtClean="0">
                <a:solidFill>
                  <a:srgbClr val="00B050"/>
                </a:solidFill>
              </a:rPr>
              <a:t>.</a:t>
            </a:r>
          </a:p>
          <a:p>
            <a:r>
              <a:rPr lang="en-US" dirty="0" smtClean="0">
                <a:solidFill>
                  <a:srgbClr val="00B050"/>
                </a:solidFill>
                <a:hlinkClick r:id="rId2"/>
              </a:rPr>
              <a:t>https://</a:t>
            </a:r>
            <a:r>
              <a:rPr lang="en-US" dirty="0" smtClean="0">
                <a:solidFill>
                  <a:srgbClr val="00B050"/>
                </a:solidFill>
                <a:hlinkClick r:id="rId2"/>
              </a:rPr>
              <a:t>docs.aws.amazon.com/vpc/latest/privatelink/aws-services-privatelink-support.html</a:t>
            </a:r>
            <a:endParaRPr lang="en-US" dirty="0" smtClean="0">
              <a:solidFill>
                <a:srgbClr val="00B050"/>
              </a:solidFill>
            </a:endParaRPr>
          </a:p>
          <a:p>
            <a:r>
              <a:rPr lang="en-US" dirty="0" smtClean="0">
                <a:solidFill>
                  <a:srgbClr val="00B050"/>
                </a:solidFill>
              </a:rPr>
              <a:t>Gateway VPC endpoints provide reliable connectivity to Amazon S3 and </a:t>
            </a:r>
            <a:r>
              <a:rPr lang="en-US" dirty="0" err="1" smtClean="0">
                <a:solidFill>
                  <a:srgbClr val="00B050"/>
                </a:solidFill>
              </a:rPr>
              <a:t>DynamoDB</a:t>
            </a:r>
            <a:r>
              <a:rPr lang="en-US" dirty="0" smtClean="0">
                <a:solidFill>
                  <a:srgbClr val="00B050"/>
                </a:solidFill>
              </a:rPr>
              <a:t> without requiring an internet gateway or a NAT device for your VPC. Gateway endpoints do not use AWS </a:t>
            </a:r>
            <a:r>
              <a:rPr lang="en-US" dirty="0" err="1" smtClean="0">
                <a:solidFill>
                  <a:srgbClr val="00B050"/>
                </a:solidFill>
              </a:rPr>
              <a:t>PrivateLink</a:t>
            </a:r>
            <a:r>
              <a:rPr lang="en-US" dirty="0" smtClean="0">
                <a:solidFill>
                  <a:srgbClr val="00B050"/>
                </a:solidFill>
              </a:rPr>
              <a:t>, unlike other types of VPC endpoints.</a:t>
            </a:r>
            <a:endParaRPr lang="en-US" dirty="0" smtClean="0">
              <a:solidFill>
                <a:srgbClr val="00B050"/>
              </a:solidFill>
            </a:endParaRPr>
          </a:p>
          <a:p>
            <a:endParaRPr lang="en-US" dirty="0">
              <a:solidFill>
                <a:srgbClr val="00B05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solidFill>
                  <a:srgbClr val="00B050"/>
                </a:solidFill>
              </a:rPr>
              <a:t>AWS </a:t>
            </a:r>
            <a:r>
              <a:rPr lang="en-US" dirty="0" err="1" smtClean="0">
                <a:solidFill>
                  <a:srgbClr val="00B050"/>
                </a:solidFill>
              </a:rPr>
              <a:t>PrivateLink</a:t>
            </a:r>
            <a:r>
              <a:rPr lang="en-US" dirty="0" smtClean="0">
                <a:solidFill>
                  <a:srgbClr val="00B050"/>
                </a:solidFill>
              </a:rPr>
              <a:t> (Interface Endpoint)</a:t>
            </a:r>
            <a:endParaRPr lang="en-US" dirty="0">
              <a:solidFill>
                <a:srgbClr val="00B050"/>
              </a:solidFill>
            </a:endParaRPr>
          </a:p>
        </p:txBody>
      </p:sp>
      <p:pic>
        <p:nvPicPr>
          <p:cNvPr id="1026" name="Picture 2"/>
          <p:cNvPicPr>
            <a:picLocks noChangeAspect="1" noChangeArrowheads="1"/>
          </p:cNvPicPr>
          <p:nvPr/>
        </p:nvPicPr>
        <p:blipFill>
          <a:blip r:embed="rId2"/>
          <a:srcRect/>
          <a:stretch>
            <a:fillRect/>
          </a:stretch>
        </p:blipFill>
        <p:spPr bwMode="auto">
          <a:xfrm>
            <a:off x="1257300" y="1562100"/>
            <a:ext cx="6629400" cy="3733800"/>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solidFill>
                  <a:srgbClr val="00B050"/>
                </a:solidFill>
              </a:rPr>
              <a:t>AWS Gateway Endpoint</a:t>
            </a:r>
            <a:endParaRPr lang="en-US" dirty="0">
              <a:solidFill>
                <a:srgbClr val="00B050"/>
              </a:solidFill>
            </a:endParaRPr>
          </a:p>
        </p:txBody>
      </p:sp>
      <p:pic>
        <p:nvPicPr>
          <p:cNvPr id="2050" name="Picture 2"/>
          <p:cNvPicPr>
            <a:picLocks noChangeAspect="1" noChangeArrowheads="1"/>
          </p:cNvPicPr>
          <p:nvPr/>
        </p:nvPicPr>
        <p:blipFill>
          <a:blip r:embed="rId2"/>
          <a:srcRect/>
          <a:stretch>
            <a:fillRect/>
          </a:stretch>
        </p:blipFill>
        <p:spPr bwMode="auto">
          <a:xfrm>
            <a:off x="152400" y="1751029"/>
            <a:ext cx="4267200" cy="2792395"/>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4648200" y="1752600"/>
            <a:ext cx="4343400" cy="2761105"/>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541</TotalTime>
  <Words>963</Words>
  <Application>Microsoft Office PowerPoint</Application>
  <PresentationFormat>On-screen Show (4:3)</PresentationFormat>
  <Paragraphs>54</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1. How do you design a Highly Available (HA) and Fault Tolerant (Resilient) architecture for an application in AWS?</vt:lpstr>
      <vt:lpstr>1. How do you design a Highly Available (HA) and Fault Tolerant (Resilient) architecture for an application in AWS?</vt:lpstr>
      <vt:lpstr>Slide 3</vt:lpstr>
      <vt:lpstr>Slide 4</vt:lpstr>
      <vt:lpstr>2. What is the default routing algorithm of an Application Load Balancer? Which other algorithm does it support?</vt:lpstr>
      <vt:lpstr>2. What is the default routing algorithm of an Application Load Balancer? Which other algorithm does it support?</vt:lpstr>
      <vt:lpstr>3. Which Load Balancer is most suited when you have to handle millions of request per second?</vt:lpstr>
      <vt:lpstr>3. Which Load Balancer is most suited when you have to handle millions of request per second?</vt:lpstr>
      <vt:lpstr>4. How do you support extra read requests in RDS?</vt:lpstr>
      <vt:lpstr>4. How do you support extra read requests in RDS?</vt:lpstr>
      <vt:lpstr>5. How do you achieve disaster recovery in RDS?</vt:lpstr>
      <vt:lpstr>5. How do you achieve disaster recovery in RDS?</vt:lpstr>
      <vt:lpstr>6. What is cross-zone load balancing?</vt:lpstr>
      <vt:lpstr>6. What is cross-zone load balancing?</vt:lpstr>
      <vt:lpstr>7. How an EC2 instance in an AutoScaling Group is replaced based on the health checks?</vt:lpstr>
      <vt:lpstr>7. How an EC2 instance in an AutoScaling Group is replaced based on the health checks?</vt:lpstr>
      <vt:lpstr>8. What are Lifecycle Hooks in AutoScaling Groups?</vt:lpstr>
      <vt:lpstr>8. What are Lifecycle Hooks in AutoScaling Groups?</vt:lpstr>
      <vt:lpstr>9. How do you peer 2 VPCs?</vt:lpstr>
      <vt:lpstr>9. How do you peer 2 VPCs?</vt:lpstr>
      <vt:lpstr>10. What are VPC Endpoints?</vt:lpstr>
      <vt:lpstr>10. What are VPC Endpoints?</vt:lpstr>
      <vt:lpstr>AWS PrivateLink (Interface Endpoint)</vt:lpstr>
      <vt:lpstr>AWS Gateway Endpoint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do you design a highly available architecture for an application in AWS?</dc:title>
  <dc:creator>Bhavuk Mudgal</dc:creator>
  <cp:lastModifiedBy>Bhavuk Mudgal</cp:lastModifiedBy>
  <cp:revision>109</cp:revision>
  <dcterms:created xsi:type="dcterms:W3CDTF">2006-08-16T00:00:00Z</dcterms:created>
  <dcterms:modified xsi:type="dcterms:W3CDTF">2025-01-22T16:40:16Z</dcterms:modified>
</cp:coreProperties>
</file>